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E8B55-DBFE-4930-91FD-59A8D5E2F7A8}" v="6" dt="2026-07-13T06:22:00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thi SUNDARAJOO from.CMC (NCSS)" userId="d2252bea-2ab6-4ece-82d0-a688eec070f3" providerId="ADAL" clId="{78D34152-A387-476E-9A58-CC5283869ED0}"/>
    <pc:docChg chg="addSld modSld">
      <pc:chgData name="Revathi SUNDARAJOO from.CMC (NCSS)" userId="d2252bea-2ab6-4ece-82d0-a688eec070f3" providerId="ADAL" clId="{78D34152-A387-476E-9A58-CC5283869ED0}" dt="2026-07-13T06:30:46.541" v="15" actId="20577"/>
      <pc:docMkLst>
        <pc:docMk/>
      </pc:docMkLst>
      <pc:sldChg chg="modSp mod">
        <pc:chgData name="Revathi SUNDARAJOO from.CMC (NCSS)" userId="d2252bea-2ab6-4ece-82d0-a688eec070f3" providerId="ADAL" clId="{78D34152-A387-476E-9A58-CC5283869ED0}" dt="2026-07-13T06:30:46.541" v="15" actId="20577"/>
        <pc:sldMkLst>
          <pc:docMk/>
          <pc:sldMk cId="2810204389" sldId="259"/>
        </pc:sldMkLst>
        <pc:spChg chg="mod">
          <ac:chgData name="Revathi SUNDARAJOO from.CMC (NCSS)" userId="d2252bea-2ab6-4ece-82d0-a688eec070f3" providerId="ADAL" clId="{78D34152-A387-476E-9A58-CC5283869ED0}" dt="2026-07-13T06:30:46.541" v="15" actId="20577"/>
          <ac:spMkLst>
            <pc:docMk/>
            <pc:sldMk cId="2810204389" sldId="259"/>
            <ac:spMk id="4" creationId="{22EDECED-A638-F57B-746F-5FC915DF1107}"/>
          </ac:spMkLst>
        </pc:spChg>
      </pc:sldChg>
      <pc:sldChg chg="modSp mod">
        <pc:chgData name="Revathi SUNDARAJOO from.CMC (NCSS)" userId="d2252bea-2ab6-4ece-82d0-a688eec070f3" providerId="ADAL" clId="{78D34152-A387-476E-9A58-CC5283869ED0}" dt="2026-07-13T06:30:37.085" v="14" actId="20577"/>
        <pc:sldMkLst>
          <pc:docMk/>
          <pc:sldMk cId="696369843" sldId="260"/>
        </pc:sldMkLst>
        <pc:spChg chg="mod">
          <ac:chgData name="Revathi SUNDARAJOO from.CMC (NCSS)" userId="d2252bea-2ab6-4ece-82d0-a688eec070f3" providerId="ADAL" clId="{78D34152-A387-476E-9A58-CC5283869ED0}" dt="2026-07-13T06:30:37.085" v="14" actId="20577"/>
          <ac:spMkLst>
            <pc:docMk/>
            <pc:sldMk cId="696369843" sldId="260"/>
            <ac:spMk id="3" creationId="{F0A8E8D2-1155-DAC0-4983-54799EBAB2C0}"/>
          </ac:spMkLst>
        </pc:spChg>
      </pc:sldChg>
      <pc:sldChg chg="addSp modSp new">
        <pc:chgData name="Revathi SUNDARAJOO from.CMC (NCSS)" userId="d2252bea-2ab6-4ece-82d0-a688eec070f3" providerId="ADAL" clId="{78D34152-A387-476E-9A58-CC5283869ED0}" dt="2026-07-13T06:22:00.290" v="6" actId="14100"/>
        <pc:sldMkLst>
          <pc:docMk/>
          <pc:sldMk cId="2245080478" sldId="261"/>
        </pc:sldMkLst>
        <pc:spChg chg="add mod">
          <ac:chgData name="Revathi SUNDARAJOO from.CMC (NCSS)" userId="d2252bea-2ab6-4ece-82d0-a688eec070f3" providerId="ADAL" clId="{78D34152-A387-476E-9A58-CC5283869ED0}" dt="2026-07-13T06:21:55.758" v="5"/>
          <ac:spMkLst>
            <pc:docMk/>
            <pc:sldMk cId="2245080478" sldId="261"/>
            <ac:spMk id="2" creationId="{34A40EAB-53A7-9999-A78C-E9065F8D85FE}"/>
          </ac:spMkLst>
        </pc:spChg>
        <pc:picChg chg="add mod">
          <ac:chgData name="Revathi SUNDARAJOO from.CMC (NCSS)" userId="d2252bea-2ab6-4ece-82d0-a688eec070f3" providerId="ADAL" clId="{78D34152-A387-476E-9A58-CC5283869ED0}" dt="2026-07-13T06:22:00.290" v="6" actId="14100"/>
          <ac:picMkLst>
            <pc:docMk/>
            <pc:sldMk cId="2245080478" sldId="261"/>
            <ac:picMk id="4098" creationId="{660B57A1-DFA4-B105-4700-229C2515447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CD62-EF50-F085-639F-C07EA7429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92120-BD20-76A5-6BAF-AB0087C6B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E1E3-7D33-EE9F-F7A5-C9D2D9F1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CE46F-ECC4-2D99-FED7-7E7BD0DF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794E1-A615-E470-028F-AFA317CC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327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DF8EE-88AF-A2C6-DC3B-DC300E50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A89CA-8E94-F550-84CA-C2D58C702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6D9C-013C-61AA-DCAF-10A66182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9F30-EE41-E273-018D-96B1CDA9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6B1D2-A759-E14C-1921-08F45D3C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064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26A0-697A-6FCF-27AE-0C894A30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25133-158E-89A0-B88A-95CEF649D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7DB3E-96B5-CF53-7C87-49E0A1EE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E98A1-D902-985D-AF77-FFC36977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3723-595A-83ED-5D19-33AF1477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8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BFD8-AFD6-834B-A5DC-2B8C1073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1B890-73FD-140E-CA53-C4181FBF4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F1E69-0891-C7D4-B79C-EABB115F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04C40-5625-8366-ACA0-B7E7B276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78B55-094F-E8FB-D3EC-807B1842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505C1-E215-0255-58DE-C69E688E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152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24D5-9CDE-0526-D5FA-849881C5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AEE5B-D67A-C33B-ABC8-6122352A9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495E3-4BD7-9D3C-6CE3-CBCF3614F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2EAE-BE0F-737B-635E-835854D71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0C3D0-DC25-276B-3281-CF01DB34C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715CA-9D3A-1E59-BCBC-331C8521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5F44B-1157-ADC6-0587-CA3D41EC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8E035-4047-2E2B-C2D3-799C9314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045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FC73-6EB4-ECCD-FD4E-7B40822F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599B7-3ACA-F097-D723-15C3ABC0B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FA478-357F-C16E-17DF-812E04AA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55066-D83C-A70F-AE34-3020DD3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12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8B6C38-38A1-D451-D6CE-066C928C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06AE2-935A-2226-AD1E-AFA037A0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CB6D2-6A8A-2718-1CC5-4063632D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542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3BA8-183D-9E05-50EA-C792289E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7748A-987D-75CA-367C-250BCF639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D191F-26FB-EEDB-D111-B16B255A6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5A4B-697D-3BB6-509D-03D8A3EB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9934D-F783-07D6-6CB7-849B71B9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BEBC3-7ECF-5AF0-8C49-862073B4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8659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D9A5-7541-6348-E6A2-711D8C2B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2B71D-FD79-6156-2374-EA434D32F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696A5-6E6B-78C0-549B-A894228C6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1DFE9-69FB-0B35-3340-1D649F12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C0CB9-95E3-3A76-FC75-A3138782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FD404-0D0C-761A-DAF1-79724404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539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A2B6-D908-4CE0-B3BA-4611EA4E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09DFE-FD06-95D8-EF4D-8BF3238F4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E031B-284E-8B35-74F8-81446306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68C92-E811-8DAE-9922-8B706934A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D960D-62DE-4C05-EFE9-33EB8083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6550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326C3-FD39-53B8-AE03-9CFE75594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9C08E-289E-24B0-4262-54E2C6210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7942-FF07-33E0-0232-17725C6B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CB1B7-7611-7D0D-5C22-79C8E85D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8B727-BEA1-7801-F20D-509AC1DF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972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28A45-D0EC-6A35-0360-7BC156B9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78114-24BF-EC58-6F37-79D05CAEF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631DE-43AA-A1B6-9270-DFB630AA2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87CC1-F824-417D-8BCC-B7E264D85BB9}" type="datetimeFigureOut">
              <a:rPr lang="en-SG" smtClean="0"/>
              <a:t>13/7/2026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2FCAC-000F-6AD3-32CD-02D728C03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398CB-2CCD-D6F5-6073-6EAEF1A37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6CA8B-C168-433C-BFB9-2651F27B608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275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DD1AC7-8EA2-B92F-4AEB-EE79F1CDB01A}"/>
              </a:ext>
            </a:extLst>
          </p:cNvPr>
          <p:cNvSpPr txBox="1"/>
          <p:nvPr/>
        </p:nvSpPr>
        <p:spPr>
          <a:xfrm>
            <a:off x="1161288" y="841248"/>
            <a:ext cx="289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effectLst/>
              </a:rPr>
              <a:t>Data Ingestion 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B201EC-46DA-6A15-37A1-B2566674E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288" y="1210580"/>
            <a:ext cx="7670972" cy="514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76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1E679-339C-E1C4-CC9E-12ACB62A3852}"/>
              </a:ext>
            </a:extLst>
          </p:cNvPr>
          <p:cNvSpPr txBox="1"/>
          <p:nvPr/>
        </p:nvSpPr>
        <p:spPr>
          <a:xfrm>
            <a:off x="1389888" y="658368"/>
            <a:ext cx="3165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effectLst/>
              </a:rPr>
              <a:t>Data Exploitation Architecture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82B876-EA16-6CEE-9C3D-91CDDA204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88" y="1152144"/>
            <a:ext cx="8110728" cy="544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67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60B57A1-DFA4-B105-4700-229C25154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749123"/>
            <a:ext cx="8661188" cy="581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A40EAB-53A7-9999-A78C-E9065F8D85FE}"/>
              </a:ext>
            </a:extLst>
          </p:cNvPr>
          <p:cNvSpPr txBox="1"/>
          <p:nvPr/>
        </p:nvSpPr>
        <p:spPr>
          <a:xfrm>
            <a:off x="1428750" y="409575"/>
            <a:ext cx="596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effectLst/>
              </a:rPr>
              <a:t>End-to-End Architecture Diagram (Ingestion + Exploitation)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4508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ECC20D-E7A4-06A9-38EB-3410BDDA016E}"/>
              </a:ext>
            </a:extLst>
          </p:cNvPr>
          <p:cNvSpPr txBox="1"/>
          <p:nvPr/>
        </p:nvSpPr>
        <p:spPr>
          <a:xfrm>
            <a:off x="1060704" y="1051560"/>
            <a:ext cx="359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effectLst/>
              </a:rPr>
              <a:t>Assumptions &amp; Design Rationale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17DB8-37AE-8274-AB50-ACBBE0419F55}"/>
              </a:ext>
            </a:extLst>
          </p:cNvPr>
          <p:cNvSpPr txBox="1"/>
          <p:nvPr/>
        </p:nvSpPr>
        <p:spPr>
          <a:xfrm>
            <a:off x="1060704" y="1420892"/>
            <a:ext cx="1996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effectLst/>
              </a:rPr>
              <a:t>Key Assumptions</a:t>
            </a:r>
          </a:p>
          <a:p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DECED-A638-F57B-746F-5FC915DF1107}"/>
              </a:ext>
            </a:extLst>
          </p:cNvPr>
          <p:cNvSpPr txBox="1"/>
          <p:nvPr/>
        </p:nvSpPr>
        <p:spPr>
          <a:xfrm>
            <a:off x="841248" y="1790224"/>
            <a:ext cx="9964972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HDB’s data platform is hosted in a private AWS VPC with no direct public internet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Source data from data.gov.sg is available via public HTTPS API or downloadable files (CSV/Parquet, &gt;100MB)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Target storage is Amazon S3 with a medallion architecture (Raw → Cleaned → Transformed)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Data team uses Tableau connected via Athena JDBC/ODBC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Data is treated as sensitive → encryption and strict access control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Batch ingestion on a daily/scheduled basis</a:t>
            </a:r>
            <a:endParaRPr lang="en-SG" sz="1600" dirty="0">
              <a:effectLst/>
            </a:endParaRPr>
          </a:p>
          <a:p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C6F03-D994-49DF-2D8A-C90231265F01}"/>
              </a:ext>
            </a:extLst>
          </p:cNvPr>
          <p:cNvSpPr txBox="1"/>
          <p:nvPr/>
        </p:nvSpPr>
        <p:spPr>
          <a:xfrm>
            <a:off x="1060704" y="3636883"/>
            <a:ext cx="1128623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effectLst/>
              </a:rPr>
              <a:t>Design Rationale</a:t>
            </a:r>
            <a:endParaRPr lang="en-SG" dirty="0">
              <a:effectLst/>
            </a:endParaRPr>
          </a:p>
          <a:p>
            <a:r>
              <a:rPr lang="en-SG" sz="1600" b="1" dirty="0"/>
              <a:t>Security</a:t>
            </a:r>
            <a:r>
              <a:rPr lang="en-SG" sz="1600" dirty="0"/>
              <a:t>: All traffic between public internet and internal platform uses secure private endpoints (VPC Endpoints / </a:t>
            </a:r>
            <a:r>
              <a:rPr lang="en-SG" sz="1600" dirty="0" err="1"/>
              <a:t>PrivateLink</a:t>
            </a:r>
            <a:r>
              <a:rPr lang="en-SG" sz="1600" dirty="0"/>
              <a:t>) </a:t>
            </a:r>
          </a:p>
          <a:p>
            <a:r>
              <a:rPr lang="en-SG" sz="1600" dirty="0"/>
              <a:t>No public exposure of S3 or Athena</a:t>
            </a:r>
          </a:p>
          <a:p>
            <a:r>
              <a:rPr lang="en-SG" sz="1600" b="1" dirty="0"/>
              <a:t>Scalability</a:t>
            </a:r>
            <a:r>
              <a:rPr lang="en-SG" sz="1600" dirty="0"/>
              <a:t>: Serverless services (Glue, Step Functions, Athena, S3) automatically scale with data volume</a:t>
            </a:r>
          </a:p>
          <a:p>
            <a:r>
              <a:rPr lang="en-SG" sz="1600" b="1" dirty="0"/>
              <a:t>Performance</a:t>
            </a:r>
            <a:r>
              <a:rPr lang="en-SG" sz="1600" dirty="0"/>
              <a:t>: Partitioned Parquet format + columnar storage for fast Athena queries. Private connectivity reduces latency</a:t>
            </a:r>
          </a:p>
          <a:p>
            <a:r>
              <a:rPr lang="en-SG" sz="1600" b="1" dirty="0"/>
              <a:t>Maintainability</a:t>
            </a:r>
            <a:r>
              <a:rPr lang="en-SG" sz="1600" dirty="0"/>
              <a:t>: Orchestration via AWS Glue / Step Functions with monitoring via CloudWatch + SNS alerts</a:t>
            </a:r>
          </a:p>
          <a:p>
            <a:r>
              <a:rPr lang="en-SG" sz="1600" b="1" dirty="0"/>
              <a:t>Compliance</a:t>
            </a:r>
            <a:r>
              <a:rPr lang="en-SG" sz="1600" dirty="0"/>
              <a:t>: KMS encryption at rest, TLS in transit, IAM least privilege, and audit logging via CloudTrail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020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A8E8D2-1155-DAC0-4983-54799EBAB2C0}"/>
              </a:ext>
            </a:extLst>
          </p:cNvPr>
          <p:cNvSpPr txBox="1"/>
          <p:nvPr/>
        </p:nvSpPr>
        <p:spPr>
          <a:xfrm>
            <a:off x="600075" y="61789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>
                <a:effectLst/>
              </a:rPr>
              <a:t>Benefits</a:t>
            </a:r>
            <a:endParaRPr lang="en-SG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Fully managed AWS services → low operational overhead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Private network flow for both ingestion and exploitation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Ready for future real-time streaming</a:t>
            </a:r>
          </a:p>
        </p:txBody>
      </p:sp>
    </p:spTree>
    <p:extLst>
      <p:ext uri="{BB962C8B-B14F-4D97-AF65-F5344CB8AC3E}">
        <p14:creationId xmlns:p14="http://schemas.microsoft.com/office/powerpoint/2010/main" val="69636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Revathi SUNDARAJOO from.CMC (NCSS)</dc:creator>
  <cp:lastModifiedBy>Revathi SUNDARAJOO from.CMC (NCSS)</cp:lastModifiedBy>
  <cp:revision>1</cp:revision>
  <dcterms:created xsi:type="dcterms:W3CDTF">2026-07-13T05:58:46Z</dcterms:created>
  <dcterms:modified xsi:type="dcterms:W3CDTF">2026-07-13T06:30:49Z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35b700-5a77-4728-a47b-13ed8ab07ba4_Enabled">
    <vt:lpwstr>true</vt:lpwstr>
  </property>
  <property fmtid="{D5CDD505-2E9C-101B-9397-08002B2CF9AE}" pid="3" name="MSIP_Label_9f35b700-5a77-4728-a47b-13ed8ab07ba4_SetDate">
    <vt:lpwstr>2026-07-13T06:06:59Z</vt:lpwstr>
  </property>
  <property fmtid="{D5CDD505-2E9C-101B-9397-08002B2CF9AE}" pid="4" name="MSIP_Label_9f35b700-5a77-4728-a47b-13ed8ab07ba4_Method">
    <vt:lpwstr>Privileged</vt:lpwstr>
  </property>
  <property fmtid="{D5CDD505-2E9C-101B-9397-08002B2CF9AE}" pid="5" name="MSIP_Label_9f35b700-5a77-4728-a47b-13ed8ab07ba4_Name">
    <vt:lpwstr>Sensitive Normal_0</vt:lpwstr>
  </property>
  <property fmtid="{D5CDD505-2E9C-101B-9397-08002B2CF9AE}" pid="6" name="MSIP_Label_9f35b700-5a77-4728-a47b-13ed8ab07ba4_SiteId">
    <vt:lpwstr>0b11c524-9a1c-4e1b-84cb-6336aefc2243</vt:lpwstr>
  </property>
  <property fmtid="{D5CDD505-2E9C-101B-9397-08002B2CF9AE}" pid="7" name="MSIP_Label_9f35b700-5a77-4728-a47b-13ed8ab07ba4_ActionId">
    <vt:lpwstr>b674584a-cee6-4e56-a22c-d8f85725330d</vt:lpwstr>
  </property>
  <property fmtid="{D5CDD505-2E9C-101B-9397-08002B2CF9AE}" pid="8" name="MSIP_Label_9f35b700-5a77-4728-a47b-13ed8ab07ba4_ContentBits">
    <vt:lpwstr>0</vt:lpwstr>
  </property>
  <property fmtid="{D5CDD505-2E9C-101B-9397-08002B2CF9AE}" pid="9" name="MSIP_Label_9f35b700-5a77-4728-a47b-13ed8ab07ba4_Tag">
    <vt:lpwstr>10, 0, 1, 1</vt:lpwstr>
  </property>
</Properties>
</file>